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this is a plan for a live, persisted product, not another prototype. The buckets are Jack's decision and are approved. The plan document is a draft: it has been reviewed twice, no features are missing, and nothing excluded has been smuggled in, but implementation of anything that depends on an open decision is not authorised by the plan or the reviews. Analysis, issue drafting and access probes can proceed.</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hard question the reviews raised: does 'all 172 before release' intentionally include two POS integrations, online payment, deposits and multi-store capacity? The plan keeps all of it because Jack selected it. A narrower first release is an option for Jack, not an assumption we have made for him.</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 is dependency-driven, not the original ranking order. The internal journey from request to collection can be demonstrated before any external provider is connected. That gives Jack something real to walk shops through while access to Lightspeed, WhatsApp and Stripe is still being arranged. Stages are merge points; individual packages still have their own prerequisites and decision gates.</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corrections came from reading current code. First, the capacity check only counts jobs with a start time and a mechanic. The public booking form still requires both, so customers cannot book drop-off today and current code does not accept unlimited requests. The gap is that the planned drop-off mode would inherit this code, and that a customer's timed booking may ignore a day already filled by staff-created untimed jobs. That overbooking was not reproduced; it is a named test. Second, a deactivated staff member's old session comes back to life if they are reactivated. That one is confirmed from code.</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drafted as issues in the plan but not published, and implementation begins only after the master plan amendment is recorded. Each has a prerequisite, an acceptance example and a concrete failure case. The amount work is split: the calculation and the labour-stock bug reproduction need no decision, but how proposals and bookings freeze prices and approvals is disputed with a No row and a Later row, so that part waits on D02. Provider access probes for Lightspeed, WhatsApp and printing can run in parallel as preparation.</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that a failed probe on either Lightspeed series blocks full Release 1 as selected. The plan's rule is to return the blocked row to Jack for a decision rather than hide the gap behind a mock. The R-Series technical question is not unanswerable; it is unanswered until we have access. Also note the credential risk: storing shop Twilio and Lightspeed keys raises the cost of any tenant-isolation bug.</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Recommendations are in the decision register: version-bound approval and price snapshots are recommended as correctness measures, but that is a recommendation, and the snapshot and approval implementation wait for Jack's answer; decide the deposit once for both rows; use phone match only as a staff suggestion, never as access. None of these is decided until Jack records it. The register also covers status semantics, cancellation, the job number floor and several definitions, which gate only their own slices.</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recommendation is R or X by access, both remaining in scope. For multi-store, the current selection is a group model with authorised capacity totals; shared customer history across stores was not selected and remains Later, so it is not on offer here. For messaging, real email and WhatsApp providers chosen from probes, with a working destination for the delivery link template or a scope change.</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what does not count: a prototype demo, mocked providers, old test totals, or a browser print dialog for automatic printing. Not every UI row needs a real provider; the rows that touch payments, messaging, POS or printers do. On duplicates, be precise: once a provider has accepted a request and we lost the response, we cannot guarantee zero duplicates, so the standard is that our own intents are recorded once, retries are controlled, and uncertain outcomes are shown to staff and reconciled. Live release also needs the commercial and ownership decision recorded: who funds hosting and support under the free, bring-your-own-account model.</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was tempting as a 'foundation' and each was rejected. Deferred safeguards that are genuinely necessary are recorded as decisions for Jack, never quietly reclassified. Later and No rows keep their buckets.</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dates, owners or costs are assigned in this pack. Package sizes are relative. Nothing has been posted to GitHub or sent to any provider. The plan stays in the reviews folder as a draft until the amendment is approved. Analysis, issue preparation and probes are fine to start; implementation that depends on an open decision is not authorised by this pack.</a:t>
            </a:r>
          </a:p>
          <a:p/>
          <a:p>
            <a:r>
              <a:t>Source: docs/reviews/2026-09-10-ranked-release-implementation-plan.md; Claude Fable 5.1, low effort. Jack’s buckets remain authoritative. Supporting row ledger: docs/reviews/2026-09-10-ranked-release-traceability.csv.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D32"/>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F4F2ED"/>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F4F2ED"/>
                </a:solidFill>
                <a:latin typeface="Arial"/>
              </a:defRPr>
            </a:pPr>
            <a:r>
              <a:t>Release 1 plan: where we are</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82D8C0"/>
                </a:solidFill>
                <a:latin typeface="Arial"/>
              </a:defRPr>
            </a:pPr>
            <a:r>
              <a:t>Jack has approved the feature buckets. The implementation plan is a</a:t>
            </a:r>
            <a:br/>
            <a:r>
              <a:t>reviewed draft until the master plan amendment is recorded.</a:t>
            </a:r>
          </a:p>
        </p:txBody>
      </p:sp>
      <p:sp>
        <p:nvSpPr>
          <p:cNvPr id="6" name="TextBox 5"/>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7" name="TextBox 6"/>
          <p:cNvSpPr txBox="1"/>
          <p:nvPr/>
        </p:nvSpPr>
        <p:spPr>
          <a:xfrm>
            <a:off x="1307592" y="3200400"/>
            <a:ext cx="4434840" cy="969264"/>
          </a:xfrm>
          <a:prstGeom prst="rect">
            <a:avLst/>
          </a:prstGeom>
          <a:noFill/>
        </p:spPr>
        <p:txBody>
          <a:bodyPr wrap="square" lIns="0" rIns="0" tIns="0" bIns="0">
            <a:spAutoFit/>
          </a:bodyPr>
          <a:lstStyle/>
          <a:p>
            <a:pPr>
              <a:lnSpc>
                <a:spcPts val="2127"/>
              </a:lnSpc>
              <a:spcBef>
                <a:spcPts val="0"/>
              </a:spcBef>
              <a:spcAft>
                <a:spcPts val="0"/>
              </a:spcAft>
              <a:defRPr sz="1850" b="0">
                <a:solidFill>
                  <a:srgbClr val="F4F2ED"/>
                </a:solidFill>
                <a:latin typeface="Arial"/>
              </a:defRPr>
            </a:pPr>
            <a:r>
              <a:t>Jack selected 172 features for Release</a:t>
            </a:r>
            <a:br/>
            <a:r>
              <a:t>1, 102 for Later and 43 as Not for us;</a:t>
            </a:r>
            <a:br/>
            <a:r>
              <a:t>those buckets are approved</a:t>
            </a:r>
          </a:p>
        </p:txBody>
      </p:sp>
      <p:sp>
        <p:nvSpPr>
          <p:cNvPr id="8" name="TextBox 7"/>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9" name="TextBox 8"/>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Two independent reviews</a:t>
            </a:r>
            <a:br/>
            <a:r>
              <a:t>challenged the build order and</a:t>
            </a:r>
            <a:br/>
            <a:r>
              <a:t>precision, not the selection</a:t>
            </a:r>
          </a:p>
        </p:txBody>
      </p:sp>
      <p:sp>
        <p:nvSpPr>
          <p:cNvPr id="10" name="TextBox 9"/>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1" name="TextBox 10"/>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Every selected feature maps to</a:t>
            </a:r>
            <a:br/>
            <a:r>
              <a:t>one of 18 delivery packages, plus a</a:t>
            </a:r>
            <a:br/>
            <a:r>
              <a:t>coordination package (19 in total)</a:t>
            </a:r>
          </a:p>
        </p:txBody>
      </p:sp>
      <p:sp>
        <p:nvSpPr>
          <p:cNvPr id="12" name="TextBox 11"/>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3" name="TextBox 12"/>
          <p:cNvSpPr txBox="1"/>
          <p:nvPr/>
        </p:nvSpPr>
        <p:spPr>
          <a:xfrm>
            <a:off x="6903720" y="4507992"/>
            <a:ext cx="4434840" cy="969264"/>
          </a:xfrm>
          <a:prstGeom prst="rect">
            <a:avLst/>
          </a:prstGeom>
          <a:noFill/>
        </p:spPr>
        <p:txBody>
          <a:bodyPr wrap="square" lIns="0" rIns="0" tIns="0" bIns="0">
            <a:spAutoFit/>
          </a:bodyPr>
          <a:lstStyle/>
          <a:p>
            <a:pPr>
              <a:lnSpc>
                <a:spcPts val="2185"/>
              </a:lnSpc>
              <a:spcBef>
                <a:spcPts val="0"/>
              </a:spcBef>
              <a:spcAft>
                <a:spcPts val="0"/>
              </a:spcAft>
              <a:defRPr sz="1900" b="0">
                <a:solidFill>
                  <a:srgbClr val="F4F2ED"/>
                </a:solidFill>
                <a:latin typeface="Arial"/>
              </a:defRPr>
            </a:pPr>
            <a:r>
              <a:t>The plan stays a draft with open</a:t>
            </a:r>
            <a:br/>
            <a:r>
              <a:t>decisions until Jack answers the</a:t>
            </a:r>
            <a:br/>
            <a:r>
              <a:t>register and the amendment is written</a:t>
            </a:r>
          </a:p>
        </p:txBody>
      </p:sp>
      <p:sp>
        <p:nvSpPr>
          <p:cNvPr id="14" name="Rectangle 13"/>
          <p:cNvSpPr/>
          <p:nvPr/>
        </p:nvSpPr>
        <p:spPr>
          <a:xfrm>
            <a:off x="594360" y="6318504"/>
            <a:ext cx="11000232" cy="10972"/>
          </a:xfrm>
          <a:prstGeom prst="rect">
            <a:avLst/>
          </a:prstGeom>
          <a:solidFill>
            <a:srgbClr val="5367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A7B9B7"/>
                </a:solidFill>
                <a:latin typeface="Arial"/>
              </a:defRPr>
            </a:pPr>
            <a:r>
              <a:t>DRAFT FOR DISCUSSION WITH JACK • 10 SEPTEMBER 2026</a:t>
            </a:r>
          </a:p>
        </p:txBody>
      </p:sp>
      <p:sp>
        <p:nvSpPr>
          <p:cNvPr id="16" name="TextBox 15"/>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F4F2E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What is in scope</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Release 1 is a full workshop platform, not just a booking diary.</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Booking widget, diary, job card,</a:t>
            </a:r>
            <a:br/>
            <a:r>
              <a:t>statuses and capacity</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Quotes with line approval,</a:t>
            </a:r>
            <a:br/>
            <a:r>
              <a:t>invoicing, online and counter</a:t>
            </a:r>
            <a:br/>
            <a:r>
              <a:t>payment, refunds</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Real email, SMS and WhatsApp</a:t>
            </a:r>
            <a:br/>
            <a:r>
              <a:t>messaging on shop-owned</a:t>
            </a:r>
            <a:br/>
            <a:r>
              <a:t>accounts</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Both Lightspeed series, customer</a:t>
            </a:r>
            <a:br/>
            <a:r>
              <a:t>import, printing, reports, group</a:t>
            </a:r>
            <a:br/>
            <a:r>
              <a:t>capacity, recovery</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Build sequence</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Foundations first, then the core job workflow, then external</a:t>
            </a:r>
            <a:br/>
            <a:r>
              <a:t>connections, then release gate.</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Stage 0-1: decisions and probes,</a:t>
            </a:r>
            <a:br/>
            <a:r>
              <a:t>tenant safety, staff access, amount</a:t>
            </a:r>
            <a:br/>
            <a:r>
              <a:t>and tax calculation</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Stage 2-3: job model, capacity,</a:t>
            </a:r>
            <a:br/>
            <a:r>
              <a:t>quotes, checklists, day view, job</a:t>
            </a:r>
            <a:br/>
            <a:r>
              <a:t>workspace</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Stage 4: customer booking,</a:t>
            </a:r>
            <a:br/>
            <a:r>
              <a:t>payments, POS writes, printing,</a:t>
            </a:r>
            <a:br/>
            <a:r>
              <a:t>reports, messaging integration</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Stage 5: recovery drill and</a:t>
            </a:r>
            <a:br/>
            <a:r>
              <a:t>integrated release gate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What the second review changed</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Twelve corrections, all to sequencing and precision. No feature, bucket</a:t>
            </a:r>
            <a:br/>
            <a:r>
              <a:t>or package ID changed.</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Group decision no longer blocks</a:t>
            </a:r>
            <a:br/>
            <a:r>
              <a:t>staff access, job model or</a:t>
            </a:r>
            <a:br/>
            <a:r>
              <a:t>catalogue work</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Messaging removed from the</a:t>
            </a:r>
            <a:br/>
            <a:r>
              <a:t>critical path of quotes and booking</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1839"/>
              </a:lnSpc>
              <a:spcBef>
                <a:spcPts val="0"/>
              </a:spcBef>
              <a:spcAft>
                <a:spcPts val="0"/>
              </a:spcAft>
              <a:defRPr sz="1600" b="0">
                <a:solidFill>
                  <a:srgbClr val="172D32"/>
                </a:solidFill>
                <a:latin typeface="Arial"/>
              </a:defRPr>
            </a:pPr>
            <a:r>
              <a:t>Capacity gap named: jobs without a start time</a:t>
            </a:r>
            <a:br/>
            <a:r>
              <a:t>are not counted, which matters for planned</a:t>
            </a:r>
            <a:br/>
            <a:r>
              <a:t>drop-off and existing staff untimed jobs</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Session revocation acceptance</a:t>
            </a:r>
            <a:br/>
            <a:r>
              <a:t>made exact after reading current</a:t>
            </a:r>
            <a:br/>
            <a:r>
              <a:t>code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First five tasks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A dependency sequence, not five tasks that all start together. Two have</a:t>
            </a:r>
            <a:br/>
            <a:r>
              <a:t>no prerequisite; the rest follow earlier tasks or a decision.</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Tenant integrity audit: cross-shop</a:t>
            </a:r>
            <a:br/>
            <a:r>
              <a:t>access must fail at database and</a:t>
            </a:r>
            <a:br/>
            <a:r>
              <a:t>API level (no prerequisite)</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Durable session revocation across</a:t>
            </a:r>
            <a:br/>
            <a:r>
              <a:t>deactivate and reactivate (no</a:t>
            </a:r>
            <a:br/>
            <a:r>
              <a:t>prerequisite)</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Job without a till order, with its own</a:t>
            </a:r>
            <a:br/>
            <a:r>
              <a:t>planned effort (after tenant work)</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1839"/>
              </a:lnSpc>
              <a:spcBef>
                <a:spcPts val="0"/>
              </a:spcBef>
              <a:spcAft>
                <a:spcPts val="0"/>
              </a:spcAft>
              <a:defRPr sz="1600" b="0">
                <a:solidFill>
                  <a:srgbClr val="172D32"/>
                </a:solidFill>
                <a:latin typeface="Arial"/>
              </a:defRPr>
            </a:pPr>
            <a:r>
              <a:t>Amount and tax calculation with the</a:t>
            </a:r>
            <a:br/>
            <a:r>
              <a:t>labour-stock fix, then atomic reservations for</a:t>
            </a:r>
            <a:br/>
            <a:r>
              <a:t>timed, drop-off and queue jobs; proposal</a:t>
            </a:r>
            <a:br/>
            <a:r>
              <a:t>snapshot semantics wait on decision D02</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Critical risks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External access, not our own code, is the likely long pole.</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1954"/>
              </a:lnSpc>
              <a:spcBef>
                <a:spcPts val="0"/>
              </a:spcBef>
              <a:spcAft>
                <a:spcPts val="0"/>
              </a:spcAft>
              <a:defRPr sz="1700" b="0">
                <a:solidFill>
                  <a:srgbClr val="172D32"/>
                </a:solidFill>
                <a:latin typeface="Arial"/>
              </a:defRPr>
            </a:pPr>
            <a:r>
              <a:t>R-Series access: public signup gives</a:t>
            </a:r>
            <a:br/>
            <a:r>
              <a:t>X-Series; the sync design is unproven until</a:t>
            </a:r>
            <a:br/>
            <a:r>
              <a:t>we can probe a real R-Series account</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Messaging and payment</a:t>
            </a:r>
            <a:br/>
            <a:r>
              <a:t>onboarding depend on provider</a:t>
            </a:r>
            <a:br/>
            <a:r>
              <a:t>approval and shop credentials</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Two POS integrations with</a:t>
            </a:r>
            <a:br/>
            <a:r>
              <a:t>write-back is the largest single</a:t>
            </a:r>
            <a:br/>
            <a:r>
              <a:t>build</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Printing: no installer was selected,</a:t>
            </a:r>
            <a:br/>
            <a:r>
              <a:t>but automatic printing still needs a</a:t>
            </a:r>
            <a:br/>
            <a:r>
              <a:t>real device proof</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Decisions for Jack: scope conflicts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Selected decisions shown here. The full register has 12 entries, each</a:t>
            </a:r>
            <a:br/>
            <a:r>
              <a:t>blocking only the work that depends on it.</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Line approval selected, but binding</a:t>
            </a:r>
            <a:br/>
            <a:r>
              <a:t>approval to a fixed version was</a:t>
            </a:r>
            <a:br/>
            <a:r>
              <a:t>marked No (D02)</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Deposit at booking is both Release</a:t>
            </a:r>
            <a:br/>
            <a:r>
              <a:t>1 and Later (D04)</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Phone-number identity selected</a:t>
            </a:r>
            <a:br/>
            <a:r>
              <a:t>after the same shortcut was</a:t>
            </a:r>
            <a:br/>
            <a:r>
              <a:t>removed for privacy (D03)</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Drop-off day selected while</a:t>
            </a:r>
            <a:br/>
            <a:r>
              <a:t>date-only booking is marked No</a:t>
            </a:r>
            <a:br/>
            <a:r>
              <a:t>(D06)</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Decisions for Jack: platform choices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Three choices set the shape of the build and can be made</a:t>
            </a:r>
            <a:br/>
            <a:r>
              <a:t>independently.</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First POS series to build against,</a:t>
            </a:r>
            <a:br/>
            <a:r>
              <a:t>based on which account we can</a:t>
            </a:r>
            <a:br/>
            <a:r>
              <a:t>actually get (D07)</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185"/>
              </a:lnSpc>
              <a:spcBef>
                <a:spcPts val="0"/>
              </a:spcBef>
              <a:spcAft>
                <a:spcPts val="0"/>
              </a:spcAft>
              <a:defRPr sz="1900" b="0">
                <a:solidFill>
                  <a:srgbClr val="172D32"/>
                </a:solidFill>
                <a:latin typeface="Arial"/>
              </a:defRPr>
            </a:pPr>
            <a:r>
              <a:t>Confirm the group model and capacity</a:t>
            </a:r>
            <a:br/>
            <a:r>
              <a:t>aggregation scenario; cross-store</a:t>
            </a:r>
            <a:br/>
            <a:r>
              <a:t>customer history stays Later (D08)</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Which messaging providers and</a:t>
            </a:r>
            <a:br/>
            <a:r>
              <a:t>inbound channels count as done</a:t>
            </a:r>
            <a:br/>
            <a:r>
              <a:t>for Release 1 (D05)</a:t>
            </a:r>
          </a:p>
        </p:txBody>
      </p:sp>
      <p:sp>
        <p:nvSpPr>
          <p:cNvPr id="15" name="Rectangle 14"/>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17" name="TextBox 16"/>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Release criteria</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300"/>
              </a:lnSpc>
              <a:spcBef>
                <a:spcPts val="0"/>
              </a:spcBef>
              <a:spcAft>
                <a:spcPts val="0"/>
              </a:spcAft>
              <a:defRPr sz="2000" b="1">
                <a:solidFill>
                  <a:srgbClr val="087F70"/>
                </a:solidFill>
                <a:latin typeface="Arial"/>
              </a:defRPr>
            </a:pPr>
            <a:r>
              <a:t>Release means every selected row has acceptance evidence, rows that depend on a</a:t>
            </a:r>
            <a:br/>
            <a:r>
              <a:t>provider or device are proven on the real one, and a restore has been rehearsed.</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Ten end-to-end scenarios with</a:t>
            </a:r>
            <a:br/>
            <a:r>
              <a:t>restarts, concurrent requests and</a:t>
            </a:r>
            <a:br/>
            <a:r>
              <a:t>provider retries</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Side effects: deduplicated local</a:t>
            </a:r>
            <a:br/>
            <a:r>
              <a:t>intents, controlled retries, unknown</a:t>
            </a:r>
            <a:br/>
            <a:r>
              <a:t>outcomes visible and reconciled</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Restore drill meets agreed</a:t>
            </a:r>
            <a:br/>
            <a:r>
              <a:t>recovery targets before real shop</a:t>
            </a:r>
            <a:br/>
            <a:r>
              <a:t>data</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Every one of 172 rows evidenced,</a:t>
            </a:r>
            <a:br/>
            <a:r>
              <a:t>or explicitly changed by Jack</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What we are not building</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The reviews guard against scope creep as much as against gaps.</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No configurable workflow engine,</a:t>
            </a:r>
            <a:br/>
            <a:r>
              <a:t>automation builder or generic</a:t>
            </a:r>
            <a:br/>
            <a:r>
              <a:t>reporting tool</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No till rewrite, no wholesale port of</a:t>
            </a:r>
            <a:br/>
            <a:r>
              <a:t>the prototype code</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No till cutover or historical</a:t>
            </a:r>
            <a:br/>
            <a:r>
              <a:t>migration promise from a</a:t>
            </a:r>
            <a:br/>
            <a:r>
              <a:t>fresh-data import</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No resold messaging credits,</a:t>
            </a:r>
            <a:br/>
            <a:r>
              <a:t>subscriptions or paid tiers</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DRAFT FOR DISCUSSION WITH JACK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D32"/>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F4F2ED"/>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F4F2ED"/>
                </a:solidFill>
                <a:latin typeface="Arial"/>
              </a:defRPr>
            </a:pPr>
            <a:r>
              <a:t>Next steps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82D8C0"/>
                </a:solidFill>
                <a:latin typeface="Arial"/>
              </a:defRPr>
            </a:pPr>
            <a:r>
              <a:t>Jack decides the flagged conflicts; engineering prepares issues and</a:t>
            </a:r>
            <a:br/>
            <a:r>
              <a:t>runs access probes while the amendment is written.</a:t>
            </a:r>
          </a:p>
        </p:txBody>
      </p:sp>
      <p:sp>
        <p:nvSpPr>
          <p:cNvPr id="6" name="TextBox 5"/>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7" name="TextBox 6"/>
          <p:cNvSpPr txBox="1"/>
          <p:nvPr/>
        </p:nvSpPr>
        <p:spPr>
          <a:xfrm>
            <a:off x="1307592" y="3200400"/>
            <a:ext cx="4434840" cy="969264"/>
          </a:xfrm>
          <a:prstGeom prst="rect">
            <a:avLst/>
          </a:prstGeom>
          <a:noFill/>
        </p:spPr>
        <p:txBody>
          <a:bodyPr wrap="square" lIns="0" rIns="0" tIns="0" bIns="0">
            <a:spAutoFit/>
          </a:bodyPr>
          <a:lstStyle/>
          <a:p>
            <a:pPr>
              <a:lnSpc>
                <a:spcPts val="2300"/>
              </a:lnSpc>
              <a:spcBef>
                <a:spcPts val="0"/>
              </a:spcBef>
              <a:spcAft>
                <a:spcPts val="0"/>
              </a:spcAft>
              <a:defRPr sz="2000" b="0">
                <a:solidFill>
                  <a:srgbClr val="F4F2ED"/>
                </a:solidFill>
                <a:latin typeface="Arial"/>
              </a:defRPr>
            </a:pPr>
            <a:r>
              <a:t>Jack records answers to the decision</a:t>
            </a:r>
            <a:br/>
            <a:r>
              <a:t>register, starting with approval,</a:t>
            </a:r>
            <a:br/>
            <a:r>
              <a:t>deposit, POS series, groups</a:t>
            </a:r>
          </a:p>
        </p:txBody>
      </p:sp>
      <p:sp>
        <p:nvSpPr>
          <p:cNvPr id="8" name="TextBox 7"/>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9" name="TextBox 8"/>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Write the master plan amendment</a:t>
            </a:r>
            <a:br/>
            <a:r>
              <a:t>and convert the plan into issues</a:t>
            </a:r>
          </a:p>
        </p:txBody>
      </p:sp>
      <p:sp>
        <p:nvSpPr>
          <p:cNvPr id="10" name="TextBox 9"/>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1" name="TextBox 10"/>
          <p:cNvSpPr txBox="1"/>
          <p:nvPr/>
        </p:nvSpPr>
        <p:spPr>
          <a:xfrm>
            <a:off x="1307592" y="4507992"/>
            <a:ext cx="4434840" cy="969264"/>
          </a:xfrm>
          <a:prstGeom prst="rect">
            <a:avLst/>
          </a:prstGeom>
          <a:noFill/>
        </p:spPr>
        <p:txBody>
          <a:bodyPr wrap="square" lIns="0" rIns="0" tIns="0" bIns="0">
            <a:spAutoFit/>
          </a:bodyPr>
          <a:lstStyle/>
          <a:p>
            <a:pPr>
              <a:lnSpc>
                <a:spcPts val="1897"/>
              </a:lnSpc>
              <a:spcBef>
                <a:spcPts val="0"/>
              </a:spcBef>
              <a:spcAft>
                <a:spcPts val="0"/>
              </a:spcAft>
              <a:defRPr sz="1650" b="0">
                <a:solidFill>
                  <a:srgbClr val="F4F2ED"/>
                </a:solidFill>
                <a:latin typeface="Arial"/>
              </a:defRPr>
            </a:pPr>
            <a:r>
              <a:t>Prepare the first issues in dependency order;</a:t>
            </a:r>
            <a:br/>
            <a:r>
              <a:t>decision-gated and amendment-dependent</a:t>
            </a:r>
            <a:br/>
            <a:r>
              <a:t>implementation waits</a:t>
            </a:r>
          </a:p>
        </p:txBody>
      </p:sp>
      <p:sp>
        <p:nvSpPr>
          <p:cNvPr id="12" name="TextBox 11"/>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3" name="TextBox 12"/>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Run Lightspeed, messaging,</a:t>
            </a:r>
            <a:br/>
            <a:r>
              <a:t>payment and print access probes</a:t>
            </a:r>
            <a:br/>
            <a:r>
              <a:t>in parallel</a:t>
            </a:r>
          </a:p>
        </p:txBody>
      </p:sp>
      <p:sp>
        <p:nvSpPr>
          <p:cNvPr id="14" name="Rectangle 13"/>
          <p:cNvSpPr/>
          <p:nvPr/>
        </p:nvSpPr>
        <p:spPr>
          <a:xfrm>
            <a:off x="594360" y="6318504"/>
            <a:ext cx="11000232" cy="10972"/>
          </a:xfrm>
          <a:prstGeom prst="rect">
            <a:avLst/>
          </a:prstGeom>
          <a:solidFill>
            <a:srgbClr val="5367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A7B9B7"/>
                </a:solidFill>
                <a:latin typeface="Arial"/>
              </a:defRPr>
            </a:pPr>
            <a:r>
              <a:t>DRAFT FOR DISCUSSION WITH JACK • 10 SEPTEMBER 2026</a:t>
            </a:r>
          </a:p>
        </p:txBody>
      </p:sp>
      <p:sp>
        <p:nvSpPr>
          <p:cNvPr id="16" name="TextBox 15"/>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F4F2ED"/>
                </a:solidFill>
                <a:latin typeface="Arial"/>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Wheelhouse — Release 1 implementation review</dc:title>
  <dc:subject>Summary for Mark and Jack; Claude Fable 5.1 review, low effort</dc:subject>
  <dc:creator>Wheelhouse</dc:creator>
  <cp:keywords>Release 1, Hubtiger, implementation, draft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